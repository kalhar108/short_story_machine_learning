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172A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F172A"/>
                </a:solidFill>
                <a:latin typeface="Arial"/>
              </a:rPr>
              <a:t>Qwen2-7B + 20B tokens — pass@1 by corpus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Stack-Edu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HumanEval</c:v>
                  </c:pt>
                  <c:pt idx="1">
                    <c:v>HumanEval+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39.3</c:v>
                </c:pt>
                <c:pt idx="1">
                  <c:v>34.3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SwallowCode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HumanEval</c:v>
                  </c:pt>
                  <c:pt idx="1">
                    <c:v>HumanEval+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49.6</c:v>
                </c:pt>
                <c:pt idx="1">
                  <c:v>44.6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0F172A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37160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Rewriting Pre-Training Data Boosts LLM Performance in Math and Code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1089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transform-and-retain corpora beat the best filtered datasets — by 17 points on HumanEval.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4297680"/>
            <a:ext cx="10972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4480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Fujii et al., arXiv:2505.02881v4 (March 2026)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846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Institution:  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Institute of Science Tokyo  &amp;  AIST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Kalhar Mayurbhai Patel  |  SJSU ID: 019140511  |  CMPE 255 — Data Mining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Data Quality Gap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open code &amp; math models still trail closed frontier models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031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22656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frontier models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Qwen3, DeepSeek-V3, GPT-4 etc.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Excellent code &amp; math performance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Pre-training corpora are NOT released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Open community cannot reproduce or improve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Open models stuck behind a wall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28800"/>
            <a:ext cx="5394960" cy="42976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537960" y="210312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1404" y="222656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23760" y="212140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datasets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37960" y="2834640"/>
            <a:ext cx="493776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Stack v1/v2, Finemath-4+, Stack-Edu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Open and reproducible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Rule-based extraction from web crawls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Classifier-based filtering DISCARDS noisy data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Inconsistent style, missing context, broken deps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Lower ceiling on downstream performance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Big Idea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097280" y="2011680"/>
            <a:ext cx="640080" cy="64008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298" y="2155698"/>
            <a:ext cx="352044" cy="3520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11680" y="1828800"/>
            <a:ext cx="95097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Don't throw bad code away. Rewrite it.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2011680" y="3108960"/>
            <a:ext cx="9509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transform-and-retain paradigm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80060" y="4114800"/>
            <a:ext cx="36118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45820" y="44805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12" y="4645152"/>
            <a:ext cx="402336" cy="40233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45820" y="5303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845820" y="5760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only the unfixable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(syntax errors, comment-only files)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274820" y="4114800"/>
            <a:ext cx="36118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4640580" y="44805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5172" y="4645152"/>
            <a:ext cx="402336" cy="40233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640580" y="5303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4640580" y="5760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70B LLM to fix style,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structure, and semantics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8069580" y="4114800"/>
            <a:ext cx="361188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8435340" y="4480560"/>
            <a:ext cx="731520" cy="7315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9932" y="4645152"/>
            <a:ext cx="402336" cy="40233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435340" y="530352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8435340" y="5760720"/>
            <a:ext cx="2880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the diversity of real-world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— don't synthesize from scratch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Headline Result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Llama-3.1-8B base. Same 50B-token budget. Only the data changes.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2578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25780" y="1691640"/>
            <a:ext cx="26060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2578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+17.0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2578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pass@1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25780" y="3291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Stack-Edu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36042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60420" y="169164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042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+16.1</a:t>
            </a:r>
            <a:endParaRPr lang="en-US" sz="5600" dirty="0"/>
          </a:p>
        </p:txBody>
      </p:sp>
      <p:sp>
        <p:nvSpPr>
          <p:cNvPr id="12" name="Text 10"/>
          <p:cNvSpPr/>
          <p:nvPr/>
        </p:nvSpPr>
        <p:spPr>
          <a:xfrm>
            <a:off x="336042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HumanEval+ pass@1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60420" y="3291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Stack-Edu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9506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95060" y="1691640"/>
            <a:ext cx="2606040" cy="731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9506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5A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+12.4</a:t>
            </a:r>
            <a:endParaRPr lang="en-US" sz="5600" dirty="0"/>
          </a:p>
        </p:txBody>
      </p:sp>
      <p:sp>
        <p:nvSpPr>
          <p:cNvPr id="17" name="Text 15"/>
          <p:cNvSpPr/>
          <p:nvPr/>
        </p:nvSpPr>
        <p:spPr>
          <a:xfrm>
            <a:off x="619506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accuracy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95060" y="3291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Finemath-4+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029700" y="1691640"/>
            <a:ext cx="260604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029700" y="1691640"/>
            <a:ext cx="260604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029700" y="1920240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+7.6</a:t>
            </a:r>
            <a:endParaRPr lang="en-US" sz="5600" dirty="0"/>
          </a:p>
        </p:txBody>
      </p:sp>
      <p:sp>
        <p:nvSpPr>
          <p:cNvPr id="22" name="Text 20"/>
          <p:cNvSpPr/>
          <p:nvPr/>
        </p:nvSpPr>
        <p:spPr>
          <a:xfrm>
            <a:off x="9029700" y="2926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accuracy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029700" y="329184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Finemath-4+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0233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SwallowCode (red) crushes every comparable open Python corpus</a:t>
            </a:r>
            <a:endParaRPr lang="en-US" sz="1200" dirty="0"/>
          </a:p>
        </p:txBody>
      </p:sp>
      <p:pic>
        <p:nvPicPr>
          <p:cNvPr id="25" name="Image 0" descr="/home/claude/short_story/figures/figure1_humaneval_comparison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63040" y="4343400"/>
            <a:ext cx="9235440" cy="219456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Llama-3.1-8B (and not a frontier model)?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64240" cy="1188720"/>
          </a:xfrm>
          <a:prstGeom prst="rect">
            <a:avLst/>
          </a:prstGeom>
          <a:solidFill>
            <a:srgbClr val="F1F5F9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371600"/>
            <a:ext cx="91440" cy="11887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46304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i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"Frontier models already saturate code &amp; math benchmarks — additional data yields only marginal gains. That obscures whether improvements come from the dataset or incidental model factors."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80060" y="301752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" y="329184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3415284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40180" y="3310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strong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54380" y="40233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Qwen-2.5/3, gpt-oss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~saturated.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 gains hide whether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even helped.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274820" y="301752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49140" y="329184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2584" y="3415284"/>
            <a:ext cx="301752" cy="30175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34940" y="3310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right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4549140" y="40233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Llama-3.1-8B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baseline, but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improvable.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attributable to data.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8069580" y="3017520"/>
            <a:ext cx="361188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343900" y="3291840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3415284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029700" y="331012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weak</a:t>
            </a:r>
            <a:endParaRPr lang="en-US" sz="2000" dirty="0"/>
          </a:p>
        </p:txBody>
      </p:sp>
      <p:sp>
        <p:nvSpPr>
          <p:cNvPr id="20" name="Text 15"/>
          <p:cNvSpPr/>
          <p:nvPr/>
        </p:nvSpPr>
        <p:spPr>
          <a:xfrm>
            <a:off x="8343900" y="4023360"/>
            <a:ext cx="306324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/ older models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ceiling, noisy.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won't transfer to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LLM training.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Four-Stage SwallowCode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41M raw Python files → 16.1B tokens of high-quality, self-contained code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54480"/>
            <a:ext cx="2103120" cy="17830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v2-Smol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2560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41.0M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36.1B tok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 rot="5400000">
            <a:off x="2505456" y="2354580"/>
            <a:ext cx="164592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97480" y="1554480"/>
            <a:ext cx="210312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9748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9748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 filter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97480" y="2560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36.7M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30.5B tok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5400000">
            <a:off x="4837176" y="2354580"/>
            <a:ext cx="164592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0" y="1554480"/>
            <a:ext cx="2103120" cy="1783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02920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Pylint filter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2560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24.1M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20.2B tok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5400000">
            <a:off x="7168896" y="2354580"/>
            <a:ext cx="164592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60920" y="1554480"/>
            <a:ext cx="2103120" cy="1783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6092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736092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SGCR rewrite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360920" y="2560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Style-Guided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9500616" y="2354580"/>
            <a:ext cx="164592" cy="182880"/>
          </a:xfrm>
          <a:prstGeom prst="rtTriangle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0" y="1554480"/>
            <a:ext cx="2103120" cy="178308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92640" y="16916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692640" y="2103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rewrite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92640" y="25603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</a:t>
            </a:r>
            <a:endParaRPr lang="en-US" sz="12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657600"/>
            <a:ext cx="548640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Stages 1 + 2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777240" y="425196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Syntax filter: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each snippet with Python's compile(). Drop anything that doesn't parse. (-9.7%)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Pylint filter (threshold ≥ 7.0):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+ structure check. Custom comment-ratio penalty kills near-empty 'doc-only' files. (-34.3%)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309360" y="3657600"/>
            <a:ext cx="5486400" cy="246888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53796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Stages 3 + 4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537960" y="4251960"/>
            <a:ext cx="50292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3 — SGCR (Style-Guided Code Rewriting):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10-criterion Google Python Style Guide rewrite — names, docstrings, type hints, error handling.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4 — SCOR (Self-Contained Optimization):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missing deps. Replace inefficient algorithms. Turn trivial snippets into instructive ones.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Filtering: Worth It, But Plateaus Fast</a:t>
            </a:r>
            <a:endParaRPr lang="en-US" sz="3000" dirty="0"/>
          </a:p>
        </p:txBody>
      </p:sp>
      <p:pic>
        <p:nvPicPr>
          <p:cNvPr id="3" name="Image 0" descr="/home/claude/short_story/figures/figure3_filter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280160"/>
            <a:ext cx="68580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9377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— Filtering on HumanEval / HumanEval+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680960" y="128016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680960" y="1691640"/>
            <a:ext cx="402336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Syntax filter helps consistently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~10% of files that don't even compile.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Linter filter adds ~1 point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Pylint ≥ 7.0 + comment-ratio penalty.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LLM-based scoring: barely worth it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 point gain, ~19,500 H100-hours of compute.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Filtering plateaus around +1–2 pts.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Two-Stage Rewriting: SGCR + SCOR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two passes? LLMs drift when juggling 19 directives — split style from semantics.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4390" y="17945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37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SGCR — Style-Guided Code Rewriting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Enforces 10 criteria from the Google Python Style Guide: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Descriptive variable names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comments + docstrings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annotations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function design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Sensible variable scopes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error handling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formatting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 +7 to +9 pts on HumanEval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C2410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554480"/>
            <a:ext cx="5486400" cy="73152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92240" y="1691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5110" y="17945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86600" y="17373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 — Self-Contained Optimization Rewriting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583680" y="2468880"/>
            <a:ext cx="475488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Fixes the three semantic failures of SGCR-only data: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dependencies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 imports, satisfy undefined helpers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algorithms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O(n²) with linear / DP solutions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Trivial snippets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print("hi") into instructive examples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Effect:  +5 to +6 pts on top of SGCR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Real Gains Come From</a:t>
            </a:r>
            <a:endParaRPr lang="en-US" sz="3000" dirty="0"/>
          </a:p>
        </p:txBody>
      </p:sp>
      <p:pic>
        <p:nvPicPr>
          <p:cNvPr id="3" name="Image 0" descr="/home/claude/short_story/figures/figure4_rewritin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188720"/>
            <a:ext cx="68580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48463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Rewriting stages dwarf filtering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589520" y="1188720"/>
            <a:ext cx="4206240" cy="14630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589520" y="128016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~14 pts</a:t>
            </a:r>
            <a:endParaRPr lang="en-US" sz="5600" dirty="0"/>
          </a:p>
        </p:txBody>
      </p:sp>
      <p:sp>
        <p:nvSpPr>
          <p:cNvPr id="7" name="Text 4"/>
          <p:cNvSpPr/>
          <p:nvPr/>
        </p:nvSpPr>
        <p:spPr>
          <a:xfrm>
            <a:off x="7589520" y="214884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rewriting alone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589520" y="28346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Breakdown (HumanEval pass@1)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3200400"/>
            <a:ext cx="42062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only (Stage 1+2)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to +2 pts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SGCR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 to +9 pts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SCOR (on top of SGCR)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 to +6 pts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589520" y="57607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Rewriting &gt; 7× more impact than filtering.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18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Cautionary Tale: The MBPP Drop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SGCR appeared to hurt one benchmark — and what it really tells us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94960" cy="18288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MBPP expects: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is_Power_Of_Two(x):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 and (not(x &amp; (x - 1)))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differ_At_One_Bit_Pos(a, b):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is_Power_Of_Two(a ^ b)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691640"/>
            <a:ext cx="5394960" cy="1828800"/>
          </a:xfrm>
          <a:prstGeom prst="rect">
            <a:avLst/>
          </a:prstGeom>
          <a:solidFill>
            <a:srgbClr val="DCFCE7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46520" y="18288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SGCR-trained model writes: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46520" y="224028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is_power_of_two(x: int) -&gt; bool: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True if x is a power of 2."""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bool(x) and not (x &amp; (x - 1))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11064240" cy="23774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4114800"/>
            <a:ext cx="640080" cy="64008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258" y="4258818"/>
            <a:ext cx="352044" cy="35204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554480" y="4133088"/>
            <a:ext cx="9875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verdict: benchmark artifact, not capability regression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554480" y="4617720"/>
            <a:ext cx="9875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MBPP hard-codes function names like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is_Power_Of_Two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 SGCR rewrites them to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snake_case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(PEP-8). Result: harness reports 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 not defined"</a:t>
            </a:r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even when the logic is perfect. The authors disclose this honestly and exclude MBPP from evaluation.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benchmarks embed assumptions. Always ask what's actually being measured.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18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SwallowMath: Same Playbook, Math Domain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transform-and-retain paradigm to Finemath-4+ — does it transfer?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86400" cy="4572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rewriting prompt — 5 steps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777240" y="22402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240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22860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web headers, footers, privacy notices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77240" y="29260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71600" y="29718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timestamps + irrelevant metadata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77240" y="36118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371600" y="36576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Restore missing context in incomplete Q/A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77240" y="42976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71600" y="43434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 derivations: concise but complete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77240" y="4983480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371600" y="5029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clear step-by-step solutions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77240" y="5760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1–2 = filtering analog.   Steps 3–5 = SGCR/SCOR analog.</a:t>
            </a:r>
            <a:endParaRPr lang="en-US" sz="1100" dirty="0"/>
          </a:p>
        </p:txBody>
      </p:sp>
      <p:pic>
        <p:nvPicPr>
          <p:cNvPr id="22" name="Image 0" descr="/home/claude/short_story/figures/figure5_math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0" y="1554480"/>
            <a:ext cx="5394960" cy="338328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0" y="49377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— GSM8K +12.4, MATH +7.6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400800" y="5486400"/>
            <a:ext cx="5394960" cy="7315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400800" y="5486400"/>
            <a:ext cx="5394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Transform-and-retain transfers beyond code.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18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Does It Generalize Beyond Llama?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 B — repeat the experiment from a Qwen2-7B base, 20B-token budget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45920"/>
            <a:ext cx="3840480" cy="4114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0" y="1828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big +10.3 lifts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229600" y="2377440"/>
            <a:ext cx="32918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HumanEval:  39.3 → 49.6  (+10.3)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HumanEval+:  34.3 → 44.6  (+10.3)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dataset, totally different base model — same dramatic improvement.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300" b="1" i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The pipeline produces genuinely better data, not just data tuned to Llama-3 quirks.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18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Did They Cheat? (No.)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Decontamination + self-contamination checks (Appendix H)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964" y="1952244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8470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Direct test-set leakage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256032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Streamed entire 16.1B-token corpus. Checked against: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HumanEval / HumanEval+ prompts (code)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GSM8K / MATH prompts + solutions (math)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Tests: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exact-match search</a:t>
            </a:r>
            <a:endParaRPr lang="en-US" sz="1300" dirty="0"/>
          </a:p>
          <a:p>
            <a:pPr marL="342900" indent="-342900">
              <a:lnSpc>
                <a:spcPct val="135000"/>
              </a:lnSpc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Jaccard similarity ≥ 0.8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 no matches found.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554480"/>
            <a:ext cx="5486400" cy="4572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5684" y="1952244"/>
            <a:ext cx="301752" cy="30175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18470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Rewriter self-contamination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560320"/>
            <a:ext cx="475488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Concern: Llama-3.3-70B-Instruct (the rewriter) has Dec 2023 cutoff — could it have seen GSM8K?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on GSM-Plus, released after the cutoff.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Finemath-4+:    35.75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SwallowMath:    46.52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Gains hold on data the rewriter has never seen.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18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Compute Cost Worth It?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— and the asset compounds across the open community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71500" y="1737360"/>
            <a:ext cx="35204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1500" y="17830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23.7K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7150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H100-hours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71500" y="3063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rewrite SwallowCode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0540" y="1737360"/>
            <a:ext cx="35204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20540" y="17830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1.22×</a:t>
            </a:r>
            <a:endParaRPr lang="en-US" sz="5000" dirty="0"/>
          </a:p>
        </p:txBody>
      </p:sp>
      <p:sp>
        <p:nvSpPr>
          <p:cNvPr id="10" name="Text 8"/>
          <p:cNvSpPr/>
          <p:nvPr/>
        </p:nvSpPr>
        <p:spPr>
          <a:xfrm>
            <a:off x="432054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over scoring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320540" y="3063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~10× the gains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069580" y="1737360"/>
            <a:ext cx="352044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69580" y="1783080"/>
            <a:ext cx="3520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16.1B</a:t>
            </a:r>
            <a:endParaRPr lang="en-US" sz="5000" dirty="0"/>
          </a:p>
        </p:txBody>
      </p:sp>
      <p:sp>
        <p:nvSpPr>
          <p:cNvPr id="14" name="Text 12"/>
          <p:cNvSpPr/>
          <p:nvPr/>
        </p:nvSpPr>
        <p:spPr>
          <a:xfrm>
            <a:off x="8069580" y="269748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released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69580" y="3063240"/>
            <a:ext cx="3520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community asset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548640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41605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8957" y="4273677"/>
            <a:ext cx="276606" cy="27660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data efficiency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22960" y="47548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Stack-Edu would need &gt;100B tokens to maybe match SwallowCode at 50B — and trends suggest it never quite gets there. Rewrite once, save tokens forever.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217920" y="3931920"/>
            <a:ext cx="5486400" cy="21945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46520" y="4160520"/>
            <a:ext cx="502920" cy="50292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9677" y="4273677"/>
            <a:ext cx="276606" cy="276606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086600" y="4206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community asset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583680" y="475488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Tokyo Tech paid the rewriting cost once. Anyone can download SwallowCode and reuse it for free — across many models, many studies. Cost amortizes across the field.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18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the Authors Acknowledge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110642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463040"/>
            <a:ext cx="9144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1755648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1879092"/>
            <a:ext cx="301752" cy="30175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62763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Source-data biases persist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600200" y="196596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cleans surface noise but inherits distributional biases of The Stack v2 / Finemath-4+. The 70B rewriter also imposes its own preferences (variable naming, solution style).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2743200"/>
            <a:ext cx="110642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48640" y="2743200"/>
            <a:ext cx="9144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68680" y="3035808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2124" y="3159252"/>
            <a:ext cx="301752" cy="30175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00200" y="290779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Python tested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600200" y="324612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is in principle language-agnostic — needs only a syntax checker + linter. Multi-language validation deferred to future work due to compute constraints.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4023360"/>
            <a:ext cx="110642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48640" y="4023360"/>
            <a:ext cx="9144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68680" y="4315968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" y="4439412"/>
            <a:ext cx="301752" cy="3017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00200" y="418795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50B-token budget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1600200" y="452628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ablations capped at 50B for controllability. Behavior at 500B / 1T tokens unproven; trends are encouraging but not a guarantee.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548640" y="5303520"/>
            <a:ext cx="11064240" cy="11430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48640" y="5303520"/>
            <a:ext cx="91440" cy="11430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5596128"/>
            <a:ext cx="548640" cy="54864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2124" y="5719572"/>
            <a:ext cx="301752" cy="30175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00200" y="5468112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Rewriter is the ceiling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1600200" y="580644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SwallowCode is bounded by Llama-3.3-70B-Instruct. Newer rewriters (Llama 4, gpt-oss, Qwen3) could lift the ceiling — that's both a limitation and an opportunity.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18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Take — Five Things That Stick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11064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481328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8132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463040" y="1399032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methodology &gt; the dataset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63040" y="1737360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is great. The transform-and-retain paradigm is the real contribution — generalizable to any language or domain.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11064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505456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505456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63040" y="242316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is the new model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63040" y="2761488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open rewriters improve, every dataset built this way regenerates for free. Compounding returns architecture changes can't match.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328416"/>
            <a:ext cx="11064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29584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5295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63040" y="3447288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 plateaus, rewriting compounds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63040" y="3785616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+1–2 pts from filters. ~14 pts from rewriting. The community has been spending its energy in the wrong place.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48640" y="4352544"/>
            <a:ext cx="11064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4553712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45537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463040" y="4471416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prompting beats one-stage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463040" y="4809744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SGCR + SCOR split is a generalizable insight. When you have many objectives, decouple them. Don't stuff into one prompt.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5376672"/>
            <a:ext cx="110642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557784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55778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1463040" y="5495544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Benchmarks are not neutral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463040" y="583387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MBPP punishing snake_case is a perfect example. Always interrogate what your benchmark is actually measuring.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18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9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You're Training a Code or Math Model in 2026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takeaways from the SwallowCode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00200"/>
            <a:ext cx="5486400" cy="640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91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670" y="1794510"/>
            <a:ext cx="251460" cy="251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code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4688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just filter — rewrite. Even a small rewriting pass on top of filtered data is likely worth it.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 style from semantics. Two prompts, two passes. SGCR then SCOR.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first, rewrite second. Both stages compound; rewriting raw garbage wastes 70B tokens of compute.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your benchmark for naming conventions. MBPP is a cautionary tale.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Decontaminate aggressively, including against the rewriter — use post-cutoff benchmarks.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17920" y="1600200"/>
            <a:ext cx="5486400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217920" y="1600200"/>
            <a:ext cx="5486400" cy="64008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446520" y="1691640"/>
            <a:ext cx="457200" cy="4572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9390" y="1794510"/>
            <a:ext cx="251460" cy="251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040880" y="17373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math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6583680" y="2468880"/>
            <a:ext cx="475488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Boilerplate stripping (privacy notices, timestamps) helps more than you'd think.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Step-by-step solution rewriting is a major source of GSM8K gains.</a:t>
            </a:r>
            <a:endParaRPr lang="en-US" sz="1250" dirty="0"/>
          </a:p>
          <a:p>
            <a:pPr marL="342900" indent="-342900">
              <a:lnSpc>
                <a:spcPct val="14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pipeline as code, just adjust the prompt for math content.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SwallowCode &amp; SwallowMath  |  CMPE 255 Short Story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18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18872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3" name="Shape 1"/>
          <p:cNvSpPr/>
          <p:nvPr/>
        </p:nvSpPr>
        <p:spPr>
          <a:xfrm>
            <a:off x="640080" y="2331720"/>
            <a:ext cx="109728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606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292608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Rewriting Pre-Training Data Boosts LLM Performance in Math and Code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Fujii et al., Institute of Science Tokyo &amp; AIST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arXiv:2505.02881v4 — March 2026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4892040"/>
            <a:ext cx="7315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Datasets:  huggingface.co/collections/tokyotech-llm/swallowcode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Pipeline:  github.com/rioyokotalab/swallow-code-math</a:t>
            </a:r>
            <a:endParaRPr lang="en-US" sz="1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Medium article:  on my profile (link in repo README)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595360" y="1828800"/>
            <a:ext cx="29260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784080" y="2194560"/>
            <a:ext cx="548640" cy="54864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7524" y="2318004"/>
            <a:ext cx="301752" cy="3017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595360" y="2880360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Kalhar M. Patel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595360" y="3337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SJSU ID: 019140511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595360" y="370332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CMPE 255 — Data Mining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595360" y="40233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Story Assignment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869680" y="4434840"/>
            <a:ext cx="2377440" cy="36576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595360" y="45262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2026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40080" y="60350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18" name="Text 15"/>
          <p:cNvSpPr/>
          <p:nvPr/>
        </p:nvSpPr>
        <p:spPr>
          <a:xfrm>
            <a:off x="10881360" y="64465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Rewriting Pre-Training Data Boosts LLM Performance in Math and Code</dc:title>
  <dc:subject>CMPE 255 Short Story Review</dc:subject>
  <dc:creator>Kalhar Mayurbhai Patel</dc:creator>
  <cp:lastModifiedBy>Kalhar Mayurbhai Patel</cp:lastModifiedBy>
  <cp:revision>1</cp:revision>
  <dcterms:created xsi:type="dcterms:W3CDTF">2026-05-01T19:09:52Z</dcterms:created>
  <dcterms:modified xsi:type="dcterms:W3CDTF">2026-05-01T19:09:52Z</dcterms:modified>
</cp:coreProperties>
</file>